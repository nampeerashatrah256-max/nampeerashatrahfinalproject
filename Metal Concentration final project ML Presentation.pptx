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7" r:id="rId1"/>
  </p:sldMasterIdLst>
  <p:sldIdLst>
    <p:sldId id="256" r:id="rId2"/>
    <p:sldId id="257" r:id="rId3"/>
    <p:sldId id="259" r:id="rId4"/>
    <p:sldId id="260" r:id="rId5"/>
    <p:sldId id="269" r:id="rId6"/>
    <p:sldId id="270" r:id="rId7"/>
    <p:sldId id="267" r:id="rId8"/>
    <p:sldId id="268" r:id="rId9"/>
    <p:sldId id="274" r:id="rId10"/>
    <p:sldId id="262" r:id="rId11"/>
    <p:sldId id="263" r:id="rId12"/>
    <p:sldId id="272" r:id="rId13"/>
    <p:sldId id="273" r:id="rId14"/>
    <p:sldId id="264" r:id="rId15"/>
    <p:sldId id="265" r:id="rId16"/>
    <p:sldId id="266" r:id="rId1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80" d="100"/>
          <a:sy n="80" d="100"/>
        </p:scale>
        <p:origin x="1522" y="5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rawing1.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840AC7D-4AF7-456C-8473-69A0F3587181}" type="doc">
      <dgm:prSet loTypeId="urn:microsoft.com/office/officeart/2008/layout/CaptionedPictures" loCatId="picture" qsTypeId="urn:microsoft.com/office/officeart/2005/8/quickstyle/simple1" qsCatId="simple" csTypeId="urn:microsoft.com/office/officeart/2005/8/colors/accent1_2" csCatId="accent1" phldr="1"/>
      <dgm:spPr/>
    </dgm:pt>
    <dgm:pt modelId="{A679F22A-6105-4562-A511-0A20F7AA0418}">
      <dgm:prSet phldrT="[Text]"/>
      <dgm:spPr/>
      <dgm:t>
        <a:bodyPr/>
        <a:lstStyle/>
        <a:p>
          <a:endParaRPr lang="en-US" dirty="0"/>
        </a:p>
      </dgm:t>
    </dgm:pt>
    <dgm:pt modelId="{F53C9D0C-21D1-45C2-92FF-54711EAF2822}" type="parTrans" cxnId="{75E0409E-1D46-48EA-A87D-8B1927E7A1D9}">
      <dgm:prSet/>
      <dgm:spPr/>
      <dgm:t>
        <a:bodyPr/>
        <a:lstStyle/>
        <a:p>
          <a:endParaRPr lang="en-US"/>
        </a:p>
      </dgm:t>
    </dgm:pt>
    <dgm:pt modelId="{B0562176-8104-44C4-B207-2D3DF5E85BCC}" type="sibTrans" cxnId="{75E0409E-1D46-48EA-A87D-8B1927E7A1D9}">
      <dgm:prSet/>
      <dgm:spPr/>
      <dgm:t>
        <a:bodyPr/>
        <a:lstStyle/>
        <a:p>
          <a:endParaRPr lang="en-US"/>
        </a:p>
      </dgm:t>
    </dgm:pt>
    <dgm:pt modelId="{F9487972-4F84-4165-935B-BF17B6444B96}" type="pres">
      <dgm:prSet presAssocID="{A840AC7D-4AF7-456C-8473-69A0F3587181}" presName="Name0" presStyleCnt="0">
        <dgm:presLayoutVars>
          <dgm:chMax/>
          <dgm:chPref/>
          <dgm:dir/>
        </dgm:presLayoutVars>
      </dgm:prSet>
      <dgm:spPr/>
    </dgm:pt>
    <dgm:pt modelId="{9C5C6217-6544-4EEF-90B3-34BEECF5762F}" type="pres">
      <dgm:prSet presAssocID="{A679F22A-6105-4562-A511-0A20F7AA0418}" presName="composite" presStyleCnt="0">
        <dgm:presLayoutVars>
          <dgm:chMax val="1"/>
          <dgm:chPref val="1"/>
        </dgm:presLayoutVars>
      </dgm:prSet>
      <dgm:spPr/>
    </dgm:pt>
    <dgm:pt modelId="{675CC565-E511-4DCC-B11E-542C4F6FE522}" type="pres">
      <dgm:prSet presAssocID="{A679F22A-6105-4562-A511-0A20F7AA0418}" presName="Accent" presStyleLbl="trAlignAcc1" presStyleIdx="0" presStyleCnt="1" custScaleX="126320" custScaleY="113525">
        <dgm:presLayoutVars>
          <dgm:chMax val="0"/>
          <dgm:chPref val="0"/>
        </dgm:presLayoutVars>
      </dgm:prSet>
      <dgm:spPr/>
    </dgm:pt>
    <dgm:pt modelId="{6C082927-132D-4C89-A8E2-51741BE59199}" type="pres">
      <dgm:prSet presAssocID="{A679F22A-6105-4562-A511-0A20F7AA0418}" presName="Image" presStyleLbl="alignImgPlace1" presStyleIdx="0" presStyleCnt="1" custScaleX="114312" custScaleY="153846">
        <dgm:presLayoutVars>
          <dgm:chMax val="0"/>
          <dgm:chPref val="0"/>
        </dgm:presLayoutVars>
      </dgm:prSet>
      <dgm:spPr>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dgm:spPr>
    </dgm:pt>
    <dgm:pt modelId="{74B3EF9D-8F45-4981-9DA2-C8B181630DEA}" type="pres">
      <dgm:prSet presAssocID="{A679F22A-6105-4562-A511-0A20F7AA0418}" presName="ChildComposite" presStyleCnt="0"/>
      <dgm:spPr/>
    </dgm:pt>
    <dgm:pt modelId="{AFB1D1B2-97A0-4805-82DC-CCB168C2F7A1}" type="pres">
      <dgm:prSet presAssocID="{A679F22A-6105-4562-A511-0A20F7AA0418}" presName="Child" presStyleLbl="node1" presStyleIdx="0" presStyleCnt="0">
        <dgm:presLayoutVars>
          <dgm:chMax val="0"/>
          <dgm:chPref val="0"/>
          <dgm:bulletEnabled val="1"/>
        </dgm:presLayoutVars>
      </dgm:prSet>
      <dgm:spPr/>
    </dgm:pt>
    <dgm:pt modelId="{81775311-564E-4A2B-8168-C13AB535F51A}" type="pres">
      <dgm:prSet presAssocID="{A679F22A-6105-4562-A511-0A20F7AA0418}" presName="Parent" presStyleLbl="revTx" presStyleIdx="0" presStyleCnt="1">
        <dgm:presLayoutVars>
          <dgm:chMax val="1"/>
          <dgm:chPref val="0"/>
          <dgm:bulletEnabled val="1"/>
        </dgm:presLayoutVars>
      </dgm:prSet>
      <dgm:spPr/>
    </dgm:pt>
  </dgm:ptLst>
  <dgm:cxnLst>
    <dgm:cxn modelId="{98D85418-E35F-4608-AA07-3D6B4FEE8600}" type="presOf" srcId="{A679F22A-6105-4562-A511-0A20F7AA0418}" destId="{81775311-564E-4A2B-8168-C13AB535F51A}" srcOrd="0" destOrd="0" presId="urn:microsoft.com/office/officeart/2008/layout/CaptionedPictures"/>
    <dgm:cxn modelId="{75E0409E-1D46-48EA-A87D-8B1927E7A1D9}" srcId="{A840AC7D-4AF7-456C-8473-69A0F3587181}" destId="{A679F22A-6105-4562-A511-0A20F7AA0418}" srcOrd="0" destOrd="0" parTransId="{F53C9D0C-21D1-45C2-92FF-54711EAF2822}" sibTransId="{B0562176-8104-44C4-B207-2D3DF5E85BCC}"/>
    <dgm:cxn modelId="{D98666DE-BD71-4172-95A9-26C8E3621C15}" type="presOf" srcId="{A840AC7D-4AF7-456C-8473-69A0F3587181}" destId="{F9487972-4F84-4165-935B-BF17B6444B96}" srcOrd="0" destOrd="0" presId="urn:microsoft.com/office/officeart/2008/layout/CaptionedPictures"/>
    <dgm:cxn modelId="{0BA44D8D-BAC4-4160-B724-9AF5116797FF}" type="presParOf" srcId="{F9487972-4F84-4165-935B-BF17B6444B96}" destId="{9C5C6217-6544-4EEF-90B3-34BEECF5762F}" srcOrd="0" destOrd="0" presId="urn:microsoft.com/office/officeart/2008/layout/CaptionedPictures"/>
    <dgm:cxn modelId="{7B520625-DCD4-47CF-AD3D-F4C84C9B8D33}" type="presParOf" srcId="{9C5C6217-6544-4EEF-90B3-34BEECF5762F}" destId="{675CC565-E511-4DCC-B11E-542C4F6FE522}" srcOrd="0" destOrd="0" presId="urn:microsoft.com/office/officeart/2008/layout/CaptionedPictures"/>
    <dgm:cxn modelId="{883D3AD2-14D4-47F4-A8A5-0EECB47B2CB9}" type="presParOf" srcId="{9C5C6217-6544-4EEF-90B3-34BEECF5762F}" destId="{6C082927-132D-4C89-A8E2-51741BE59199}" srcOrd="1" destOrd="0" presId="urn:microsoft.com/office/officeart/2008/layout/CaptionedPictures"/>
    <dgm:cxn modelId="{879B14FF-BD65-4678-84AF-B7D44F587C57}" type="presParOf" srcId="{9C5C6217-6544-4EEF-90B3-34BEECF5762F}" destId="{74B3EF9D-8F45-4981-9DA2-C8B181630DEA}" srcOrd="2" destOrd="0" presId="urn:microsoft.com/office/officeart/2008/layout/CaptionedPictures"/>
    <dgm:cxn modelId="{1A055750-18D9-4C25-9B28-56BDF26CCB2A}" type="presParOf" srcId="{74B3EF9D-8F45-4981-9DA2-C8B181630DEA}" destId="{AFB1D1B2-97A0-4805-82DC-CCB168C2F7A1}" srcOrd="0" destOrd="0" presId="urn:microsoft.com/office/officeart/2008/layout/CaptionedPictures"/>
    <dgm:cxn modelId="{DD5E1B5F-58E0-4165-9A5F-F13ECE45E443}" type="presParOf" srcId="{74B3EF9D-8F45-4981-9DA2-C8B181630DEA}" destId="{81775311-564E-4A2B-8168-C13AB535F51A}" srcOrd="1" destOrd="0" presId="urn:microsoft.com/office/officeart/2008/layout/CaptionedPicture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5CC565-E511-4DCC-B11E-542C4F6FE522}">
      <dsp:nvSpPr>
        <dsp:cNvPr id="0" name=""/>
        <dsp:cNvSpPr/>
      </dsp:nvSpPr>
      <dsp:spPr>
        <a:xfrm>
          <a:off x="29469" y="193391"/>
          <a:ext cx="3066847" cy="3242594"/>
        </a:xfrm>
        <a:prstGeom prst="rect">
          <a:avLst/>
        </a:prstGeom>
        <a:solidFill>
          <a:schemeClr val="lt1">
            <a:alpha val="40000"/>
            <a:hueOff val="0"/>
            <a:satOff val="0"/>
            <a:lumOff val="0"/>
            <a:alphaOff val="0"/>
          </a:schemeClr>
        </a:solidFill>
        <a:ln w="9525" cap="flat" cmpd="sng" algn="ctr">
          <a:solidFill>
            <a:schemeClr val="accent1">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sp>
    <dsp:sp modelId="{6C082927-132D-4C89-A8E2-51741BE59199}">
      <dsp:nvSpPr>
        <dsp:cNvPr id="0" name=""/>
        <dsp:cNvSpPr/>
      </dsp:nvSpPr>
      <dsp:spPr>
        <a:xfrm>
          <a:off x="314002" y="950"/>
          <a:ext cx="2497781" cy="2856279"/>
        </a:xfrm>
        <a:prstGeom prst="rect">
          <a:avLst/>
        </a:prstGeom>
        <a:blipFill>
          <a:blip xmlns:r="http://schemas.openxmlformats.org/officeDocument/2006/relationships" r:embed="rId1">
            <a:extLst>
              <a:ext uri="{28A0092B-C50C-407E-A947-70E740481C1C}">
                <a14:useLocalDpi xmlns:a14="http://schemas.microsoft.com/office/drawing/2010/main" val="0"/>
              </a:ext>
            </a:extLst>
          </a:blip>
          <a:srcRect/>
          <a:stretch>
            <a:fillRect t="-9000" b="-9000"/>
          </a:stretch>
        </a:blip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1775311-564E-4A2B-8168-C13AB535F51A}">
      <dsp:nvSpPr>
        <dsp:cNvPr id="0" name=""/>
        <dsp:cNvSpPr/>
      </dsp:nvSpPr>
      <dsp:spPr>
        <a:xfrm>
          <a:off x="470365" y="2357382"/>
          <a:ext cx="2185056" cy="7711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37160" rIns="137160" bIns="137160" numCol="1" spcCol="1270" anchor="ctr" anchorCtr="0">
          <a:noAutofit/>
        </a:bodyPr>
        <a:lstStyle/>
        <a:p>
          <a:pPr marL="0" lvl="0" indent="0" algn="ctr" defTabSz="1600200">
            <a:lnSpc>
              <a:spcPct val="90000"/>
            </a:lnSpc>
            <a:spcBef>
              <a:spcPct val="0"/>
            </a:spcBef>
            <a:spcAft>
              <a:spcPct val="35000"/>
            </a:spcAft>
            <a:buNone/>
          </a:pPr>
          <a:endParaRPr lang="en-US" sz="3600" kern="1200" dirty="0"/>
        </a:p>
      </dsp:txBody>
      <dsp:txXfrm>
        <a:off x="470365" y="2357382"/>
        <a:ext cx="2185056" cy="771196"/>
      </dsp:txXfrm>
    </dsp:sp>
  </dsp:spTree>
</dsp:drawing>
</file>

<file path=ppt/diagrams/layout1.xml><?xml version="1.0" encoding="utf-8"?>
<dgm:layoutDef xmlns:dgm="http://schemas.openxmlformats.org/drawingml/2006/diagram" xmlns:a="http://schemas.openxmlformats.org/drawingml/2006/main" uniqueId="urn:microsoft.com/office/officeart/2008/layout/CaptionedPictures">
  <dgm:title val=""/>
  <dgm:desc val=""/>
  <dgm:catLst>
    <dgm:cat type="picture" pri="5000"/>
    <dgm:cat type="pictureconvert" pri="5000"/>
  </dgm:catLst>
  <dgm:samp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Lst>
      <dgm:bg/>
      <dgm:whole/>
    </dgm:dataModel>
  </dgm:sampData>
  <dgm:styleData>
    <dgm:dataModel>
      <dgm:ptLst>
        <dgm:pt modelId="0" type="doc"/>
        <dgm:pt modelId="10">
          <dgm:prSet phldr="1"/>
        </dgm:pt>
        <dgm:pt modelId="11">
          <dgm:prSet phldr="1"/>
        </dgm:pt>
        <dgm:pt modelId="20">
          <dgm:prSet phldr="1"/>
        </dgm:pt>
        <dgm:pt modelId="21">
          <dgm:prSet phldr="1"/>
        </dgm:pt>
      </dgm:ptLst>
      <dgm:cxnLst>
        <dgm:cxn modelId="60" srcId="0" destId="10" srcOrd="0" destOrd="0"/>
        <dgm:cxn modelId="12" srcId="10" destId="11" srcOrd="0" destOrd="0"/>
        <dgm:cxn modelId="70" srcId="0" destId="20" srcOrd="1" destOrd="0"/>
        <dgm:cxn modelId="22" srcId="20" destId="21" srcOrd="0" destOrd="0"/>
      </dgm:cxnLst>
      <dgm:bg/>
      <dgm:whole/>
    </dgm:dataModel>
  </dgm:styleData>
  <dgm:clrData>
    <dgm:dataModel>
      <dgm:ptLst>
        <dgm:pt modelId="0" type="doc"/>
        <dgm:pt modelId="10">
          <dgm:prSet phldr="1"/>
        </dgm:pt>
        <dgm:pt modelId="11">
          <dgm:prSet phldr="1"/>
        </dgm:pt>
        <dgm:pt modelId="20">
          <dgm:prSet phldr="1"/>
        </dgm:pt>
        <dgm:pt modelId="21">
          <dgm:prSet phldr="1"/>
        </dgm:pt>
        <dgm:pt modelId="30">
          <dgm:prSet phldr="1"/>
        </dgm:pt>
        <dgm:pt modelId="31">
          <dgm:prSet phldr="1"/>
        </dgm:pt>
        <dgm:pt modelId="40">
          <dgm:prSet phldr="1"/>
        </dgm:pt>
        <dgm:pt modelId="41">
          <dgm:prSet phldr="1"/>
        </dgm:pt>
      </dgm:ptLst>
      <dgm:cxnLst>
        <dgm:cxn modelId="60" srcId="0" destId="10" srcOrd="0" destOrd="0"/>
        <dgm:cxn modelId="12" srcId="10" destId="11" srcOrd="0" destOrd="0"/>
        <dgm:cxn modelId="70" srcId="0" destId="20" srcOrd="1" destOrd="0"/>
        <dgm:cxn modelId="22" srcId="20" destId="21" srcOrd="0" destOrd="0"/>
        <dgm:cxn modelId="80" srcId="0" destId="30" srcOrd="2" destOrd="0"/>
        <dgm:cxn modelId="32" srcId="30" destId="31" srcOrd="0" destOrd="0"/>
        <dgm:cxn modelId="90" srcId="0" destId="40" srcOrd="3" destOrd="0"/>
        <dgm:cxn modelId="42" srcId="40" destId="41" srcOrd="0" destOrd="0"/>
      </dgm:cxnLst>
      <dgm:bg/>
      <dgm:whole/>
    </dgm:dataModel>
  </dgm:clrData>
  <dgm:layoutNode name="Name0">
    <dgm:varLst>
      <dgm:chMax/>
      <dgm:chPref/>
      <dgm:dir/>
    </dgm:varLst>
    <dgm:choose name="Name1">
      <dgm:if name="Name2" func="var" arg="dir" op="equ" val="norm">
        <dgm:alg type="snake">
          <dgm:param type="off" val="ctr"/>
        </dgm:alg>
      </dgm:if>
      <dgm:else name="Name3">
        <dgm:alg type="snake">
          <dgm:param type="grDir" val="tR"/>
          <dgm:param type="off" val="ctr"/>
        </dgm:alg>
      </dgm:else>
    </dgm:choose>
    <dgm:shape xmlns:r="http://schemas.openxmlformats.org/officeDocument/2006/relationships" r:blip="">
      <dgm:adjLst/>
    </dgm:shape>
    <dgm:constrLst>
      <dgm:constr type="primFontSz" for="des" forName="Parent" op="equ"/>
      <dgm:constr type="primFontSz" for="des" forName="Child" refType="primFontSz" refFor="des" refForName="Parent" op="lte"/>
      <dgm:constr type="w" for="ch" forName="composite" refType="w"/>
      <dgm:constr type="h" for="ch" forName="composite" refType="h"/>
      <dgm:constr type="sp" refType="w" refFor="ch" refForName="composite" op="equ" fact="0.1"/>
      <dgm:constr type="w" for="ch" forName="sibTrans" refType="w" refFor="ch" refForName="composite" op="equ" fact="0.1"/>
      <dgm:constr type="h" for="ch" forName="sibTrans" refType="w" refFor="ch" refForName="sibTrans" op="equ"/>
    </dgm:constrLst>
    <dgm:forEach name="nodesForEach" axis="ch" ptType="node">
      <dgm:layoutNode name="composite">
        <dgm:varLst>
          <dgm:chMax val="1"/>
          <dgm:chPref val="1"/>
        </dgm:varLst>
        <dgm:alg type="composite">
          <dgm:param type="ar" val="0.85"/>
        </dgm:alg>
        <dgm:shape xmlns:r="http://schemas.openxmlformats.org/officeDocument/2006/relationships" r:blip="">
          <dgm:adjLst/>
        </dgm:shape>
        <dgm:constrLst>
          <dgm:constr type="l" for="ch" forName="Accent" refType="w" fact="0"/>
          <dgm:constr type="t" for="ch" forName="Accent" refType="h" fact="0"/>
          <dgm:constr type="w" for="ch" forName="Accent" refType="w"/>
          <dgm:constr type="h" for="ch" forName="Accent" refType="h"/>
          <dgm:constr type="l" for="ch" forName="Image" refType="w" fact="0.05"/>
          <dgm:constr type="t" for="ch" forName="Image" refType="h" fact="0.04"/>
          <dgm:constr type="w" for="ch" forName="Image" refType="w" fact="0.9"/>
          <dgm:constr type="h" for="ch" forName="Image" refType="h" fact="0.65"/>
          <dgm:constr type="l" for="ch" forName="ChildComposite" refType="w" fact="0.05"/>
          <dgm:constr type="t" for="ch" forName="ChildComposite" refType="h" fact="0.69"/>
          <dgm:constr type="w" for="ch" forName="ChildComposite" refType="w" fact="0.9"/>
          <dgm:constr type="h" for="ch" forName="ChildComposite" refType="h" fact="0.27"/>
        </dgm:constrLst>
        <dgm:layoutNode name="Accent" styleLbl="trAlignAcc1">
          <dgm:varLst>
            <dgm:chMax val="0"/>
            <dgm:chPref val="0"/>
          </dgm:varLst>
          <dgm:alg type="sp"/>
          <dgm:shape xmlns:r="http://schemas.openxmlformats.org/officeDocument/2006/relationships" type="rect" r:blip="">
            <dgm:adjLst/>
          </dgm:shape>
          <dgm:presOf/>
        </dgm:layoutNode>
        <dgm:layoutNode name="Image" styleLbl="alignImgPlace1">
          <dgm:varLst>
            <dgm:chMax val="0"/>
            <dgm:chPref val="0"/>
          </dgm:varLst>
          <dgm:alg type="sp"/>
          <dgm:shape xmlns:r="http://schemas.openxmlformats.org/officeDocument/2006/relationships" type="rect" r:blip="" blipPhldr="1">
            <dgm:adjLst/>
          </dgm:shape>
          <dgm:presOf/>
        </dgm:layoutNode>
        <dgm:layoutNode name="ChildComposite">
          <dgm:alg type="composite"/>
          <dgm:shape xmlns:r="http://schemas.openxmlformats.org/officeDocument/2006/relationships" r:blip="">
            <dgm:adjLst/>
          </dgm:shape>
          <dgm:choose name="Name4">
            <dgm:if name="Name5" axis="ch" ptType="node" func="cnt" op="gte" val="1">
              <dgm:constrLst>
                <dgm:constr type="l" for="ch" forName="Parent" refType="w" fact="0"/>
                <dgm:constr type="t" for="ch" forName="Parent" refType="h" fact="0"/>
                <dgm:constr type="w" for="ch" forName="Parent" refType="w"/>
                <dgm:constr type="h" for="ch" forName="Parent" refType="h" fact="0.3704"/>
                <dgm:constr type="l" for="ch" forName="Child" refType="w" fact="0"/>
                <dgm:constr type="t" for="ch" forName="Child" refType="h" fact="0.3704"/>
                <dgm:constr type="w" for="ch" forName="Child" refType="w"/>
                <dgm:constr type="h" for="ch" forName="Child" refType="h" fact="0.6296"/>
              </dgm:constrLst>
            </dgm:if>
            <dgm:else name="Name6">
              <dgm:constrLst>
                <dgm:constr type="l" for="ch" forName="Parent" refType="w" fact="0"/>
                <dgm:constr type="t" for="ch" forName="Parent" refType="h" fact="0"/>
                <dgm:constr type="w" for="ch" forName="Parent" refType="w"/>
                <dgm:constr type="h" for="ch" forName="Parent" refType="h"/>
                <dgm:constr type="l" for="ch" forName="Child" refType="w" fact="0"/>
                <dgm:constr type="t" for="ch" forName="Child" refType="h" fact="0"/>
                <dgm:constr type="w" for="ch" forName="Child" refType="w" fact="0"/>
                <dgm:constr type="h" for="ch" forName="Child" refType="h" fact="0"/>
              </dgm:constrLst>
            </dgm:else>
          </dgm:choose>
          <dgm:layoutNode name="Child" styleLbl="node1">
            <dgm:varLst>
              <dgm:chMax val="0"/>
              <dgm:chPref val="0"/>
              <dgm:bulletEnabled val="1"/>
            </dgm:varLst>
            <dgm:choose name="Name7">
              <dgm:if name="Name8" axis="ch" ptType="node" func="cnt" op="gt" val="1">
                <dgm:alg type="tx">
                  <dgm:param type="parTxLTRAlign" val="l"/>
                  <dgm:param type="parTxRTLAlign" val="r"/>
                  <dgm:param type="txAnchorVert" val="mid"/>
                  <dgm:param type="txAnchorVertCh" val="mid"/>
                </dgm:alg>
              </dgm:if>
              <dgm:else name="Name9">
                <dgm:alg type="tx">
                  <dgm:param type="parTxLTRAlign" val="ctr"/>
                  <dgm:param type="parTxRTLAlign" val="ctr"/>
                  <dgm:param type="shpTxLTRAlignCh" val="l"/>
                  <dgm:param type="shpTxRTLAlignCh" val="r"/>
                  <dgm:param type="txAnchorVert" val="mid"/>
                  <dgm:param type="txAnchorVertCh" val="mid"/>
                </dgm:alg>
              </dgm:else>
            </dgm:choose>
            <dgm:choose name="Name10">
              <dgm:if name="Name11" axis="ch" ptType="node" func="cnt" op="gte" val="1">
                <dgm:shape xmlns:r="http://schemas.openxmlformats.org/officeDocument/2006/relationships" type="rect" r:blip="">
                  <dgm:adjLst/>
                </dgm:shape>
              </dgm:if>
              <dgm:else name="Name12">
                <dgm:shape xmlns:r="http://schemas.openxmlformats.org/officeDocument/2006/relationships" type="rect" r:blip="" hideGeom="1">
                  <dgm:adjLst/>
                </dgm:shape>
              </dgm:else>
            </dgm:choose>
            <dgm:choose name="Name13">
              <dgm:if name="Name14" axis="ch" ptType="node" func="cnt" op="gte" val="1">
                <dgm:presOf axis="des" ptType="node"/>
              </dgm:if>
              <dgm:else name="Name15">
                <dgm:presOf/>
              </dgm:else>
            </dgm:choos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Parent" styleLbl="revTx">
            <dgm:varLst>
              <dgm:chMax val="1"/>
              <dgm:chPref val="0"/>
              <dgm:bulletEnabled val="1"/>
            </dgm:varLst>
            <dgm:alg type="tx">
              <dgm:param type="shpTxLTRAlignCh" val="ctr"/>
              <dgm:param type="txAnchorVert" val="mid"/>
            </dgm:alg>
            <dgm:shape xmlns:r="http://schemas.openxmlformats.org/officeDocument/2006/relationships" type="rect" r:blip="">
              <dgm:adjLst/>
            </dgm:shape>
            <dgm:presOf axis="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dgm:layoutNod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396319" y="802299"/>
            <a:ext cx="5618515" cy="2541431"/>
          </a:xfrm>
        </p:spPr>
        <p:txBody>
          <a:bodyPr bIns="0" anchor="b">
            <a:normAutofit/>
          </a:bodyPr>
          <a:lstStyle>
            <a:lvl1pPr algn="l">
              <a:defRPr sz="5400"/>
            </a:lvl1pPr>
          </a:lstStyle>
          <a:p>
            <a:r>
              <a:rPr lang="en-US"/>
              <a:t>Click to edit Master title style</a:t>
            </a:r>
            <a:endParaRPr lang="en-US" dirty="0"/>
          </a:p>
        </p:txBody>
      </p:sp>
      <p:sp>
        <p:nvSpPr>
          <p:cNvPr id="3" name="Subtitle 2"/>
          <p:cNvSpPr>
            <a:spLocks noGrp="1"/>
          </p:cNvSpPr>
          <p:nvPr>
            <p:ph type="subTitle" idx="1"/>
          </p:nvPr>
        </p:nvSpPr>
        <p:spPr>
          <a:xfrm>
            <a:off x="2396319" y="3531205"/>
            <a:ext cx="5618515" cy="977621"/>
          </a:xfrm>
        </p:spPr>
        <p:txBody>
          <a:bodyPr tIns="91440" bIns="91440">
            <a:normAutofit/>
          </a:bodyPr>
          <a:lstStyle>
            <a:lvl1pPr marL="0" indent="0" algn="l">
              <a:buNone/>
              <a:defRPr sz="1600" b="0" cap="all" baseline="0">
                <a:solidFill>
                  <a:schemeClr val="tx1"/>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a:xfrm>
            <a:off x="2396319" y="329308"/>
            <a:ext cx="3086292" cy="309201"/>
          </a:xfrm>
        </p:spPr>
        <p:txBody>
          <a:bodyPr/>
          <a:lstStyle/>
          <a:p>
            <a:endParaRPr lang="en-US"/>
          </a:p>
        </p:txBody>
      </p:sp>
      <p:sp>
        <p:nvSpPr>
          <p:cNvPr id="6" name="Slide Number Placeholder 5"/>
          <p:cNvSpPr>
            <a:spLocks noGrp="1"/>
          </p:cNvSpPr>
          <p:nvPr>
            <p:ph type="sldNum" sz="quarter" idx="12"/>
          </p:nvPr>
        </p:nvSpPr>
        <p:spPr>
          <a:xfrm>
            <a:off x="1434703" y="798973"/>
            <a:ext cx="802005" cy="503578"/>
          </a:xfrm>
        </p:spPr>
        <p:txBody>
          <a:bodyPr/>
          <a:lstStyle/>
          <a:p>
            <a:fld id="{C1FF6DA9-008F-8B48-92A6-B652298478BF}" type="slidenum">
              <a:rPr lang="en-US" smtClean="0"/>
              <a:t>‹#›</a:t>
            </a:fld>
            <a:endParaRPr lang="en-US"/>
          </a:p>
        </p:txBody>
      </p:sp>
      <p:cxnSp>
        <p:nvCxnSpPr>
          <p:cNvPr id="15" name="Straight Connector 14"/>
          <p:cNvCxnSpPr/>
          <p:nvPr/>
        </p:nvCxnSpPr>
        <p:spPr>
          <a:xfrm>
            <a:off x="2396319" y="3528542"/>
            <a:ext cx="5618515"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46098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0172012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43491" y="1756130"/>
            <a:ext cx="5617002" cy="1887950"/>
          </a:xfrm>
        </p:spPr>
        <p:txBody>
          <a:bodyPr anchor="b">
            <a:normAutofit/>
          </a:bodyPr>
          <a:lstStyle>
            <a:lvl1pPr algn="l">
              <a:defRPr sz="3200"/>
            </a:lvl1pPr>
          </a:lstStyle>
          <a:p>
            <a:r>
              <a:rPr lang="en-US"/>
              <a:t>Click to edit Master title style</a:t>
            </a:r>
            <a:endParaRPr lang="en-US" dirty="0"/>
          </a:p>
        </p:txBody>
      </p:sp>
      <p:sp>
        <p:nvSpPr>
          <p:cNvPr id="3" name="Text Placeholder 2"/>
          <p:cNvSpPr>
            <a:spLocks noGrp="1"/>
          </p:cNvSpPr>
          <p:nvPr>
            <p:ph type="body" idx="1"/>
          </p:nvPr>
        </p:nvSpPr>
        <p:spPr>
          <a:xfrm>
            <a:off x="1443492" y="3806196"/>
            <a:ext cx="5617002" cy="1012929"/>
          </a:xfrm>
        </p:spPr>
        <p:txBody>
          <a:bodyPr tIns="91440">
            <a:normAutofit/>
          </a:bodyPr>
          <a:lstStyle>
            <a:lvl1pPr marL="0" indent="0" algn="l">
              <a:buNone/>
              <a:defRPr sz="1800">
                <a:solidFill>
                  <a:schemeClr val="tx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1443491" y="3804985"/>
            <a:ext cx="561700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5226160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3491" y="804890"/>
            <a:ext cx="6571343"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3490" y="2013936"/>
            <a:ext cx="3125871" cy="34375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889182" y="2013936"/>
            <a:ext cx="3125652" cy="34375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996459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cxnSp>
        <p:nvCxnSpPr>
          <p:cNvPr id="36" name="Straight Connector 35"/>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a:xfrm>
            <a:off x="1443491" y="804164"/>
            <a:ext cx="6571344"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3491" y="2019550"/>
            <a:ext cx="3125766" cy="801943"/>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1443491" y="2824270"/>
            <a:ext cx="3125766"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889182" y="2023004"/>
            <a:ext cx="3125652" cy="802237"/>
          </a:xfrm>
        </p:spPr>
        <p:txBody>
          <a:bodyPr anchor="b">
            <a:normAutofit/>
          </a:bodyPr>
          <a:lstStyle>
            <a:lvl1pPr marL="0" indent="0">
              <a:lnSpc>
                <a:spcPct val="100000"/>
              </a:lnSpc>
              <a:buNone/>
              <a:defRPr sz="2200" b="0" cap="all" baseline="0">
                <a:solidFill>
                  <a:schemeClr val="accent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889182" y="2821491"/>
            <a:ext cx="31256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4/30/2026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31612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cxnSp>
        <p:nvCxnSpPr>
          <p:cNvPr id="32" name="Straight Connector 31"/>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4/30/2026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6661410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90819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39042" y="798973"/>
            <a:ext cx="2425950"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4186656" y="798974"/>
            <a:ext cx="3828178"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39042" y="3205492"/>
            <a:ext cx="2427369" cy="2248181"/>
          </a:xfrm>
        </p:spPr>
        <p:txBody>
          <a:bodyPr>
            <a:normAutofit/>
          </a:bodyPr>
          <a:lstStyle>
            <a:lvl1pPr marL="0" indent="0" algn="l">
              <a:buNone/>
              <a:defRPr sz="16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17" name="Straight Connector 16"/>
          <p:cNvCxnSpPr/>
          <p:nvPr/>
        </p:nvCxnSpPr>
        <p:spPr>
          <a:xfrm>
            <a:off x="1441748" y="3205491"/>
            <a:ext cx="242327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44634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3" name="Group 12"/>
          <p:cNvGrpSpPr/>
          <p:nvPr/>
        </p:nvGrpSpPr>
        <p:grpSpPr>
          <a:xfrm>
            <a:off x="4996501" y="482171"/>
            <a:ext cx="3511387" cy="5149101"/>
            <a:chOff x="6852919" y="583365"/>
            <a:chExt cx="4681849" cy="5181928"/>
          </a:xfrm>
        </p:grpSpPr>
        <p:sp>
          <p:nvSpPr>
            <p:cNvPr id="14" name="Rectangle 13"/>
            <p:cNvSpPr/>
            <p:nvPr/>
          </p:nvSpPr>
          <p:spPr>
            <a:xfrm>
              <a:off x="6852919" y="583365"/>
              <a:ext cx="4681849" cy="5181928"/>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5" name="Rectangle 14"/>
            <p:cNvSpPr/>
            <p:nvPr/>
          </p:nvSpPr>
          <p:spPr>
            <a:xfrm>
              <a:off x="7273787" y="915806"/>
              <a:ext cx="3844017" cy="4507918"/>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44148" y="1129513"/>
            <a:ext cx="3244935"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640128" y="1122543"/>
            <a:ext cx="2234998" cy="3866327"/>
          </a:xfrm>
          <a:solidFill>
            <a:schemeClr val="bg1">
              <a:lumMod val="85000"/>
            </a:schemeClr>
          </a:solidFill>
          <a:ln w="9525" cap="sq">
            <a:noFill/>
            <a:miter lim="800000"/>
          </a:ln>
          <a:effectLst/>
        </p:spPr>
        <p:txBody>
          <a:bodyPr anchor="t"/>
          <a:lstStyle>
            <a:lvl1pPr marL="0" indent="0" algn="ctr">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1443492" y="3145992"/>
            <a:ext cx="3240286" cy="2003742"/>
          </a:xfrm>
        </p:spPr>
        <p:txBody>
          <a:bodyPr>
            <a:normAutofit/>
          </a:bodyPr>
          <a:lstStyle>
            <a:lvl1pPr marL="0" indent="0" algn="l">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a:xfrm>
            <a:off x="1436664" y="5469857"/>
            <a:ext cx="3252420" cy="320123"/>
          </a:xfrm>
        </p:spPr>
        <p:txBody>
          <a:bodyPr/>
          <a:lstStyle>
            <a:lvl1pPr algn="l">
              <a:defRPr/>
            </a:lvl1pPr>
          </a:lstStyle>
          <a:p>
            <a:fld id="{5BCAD085-E8A6-8845-BD4E-CB4CCA059FC4}" type="datetimeFigureOut">
              <a:rPr lang="en-US" smtClean="0"/>
              <a:t>4/30/2026</a:t>
            </a:fld>
            <a:endParaRPr lang="en-US"/>
          </a:p>
        </p:txBody>
      </p:sp>
      <p:sp>
        <p:nvSpPr>
          <p:cNvPr id="6" name="Footer Placeholder 5"/>
          <p:cNvSpPr>
            <a:spLocks noGrp="1"/>
          </p:cNvSpPr>
          <p:nvPr>
            <p:ph type="ftr" sz="quarter" idx="11"/>
          </p:nvPr>
        </p:nvSpPr>
        <p:spPr>
          <a:xfrm>
            <a:off x="1437530" y="318641"/>
            <a:ext cx="3251553" cy="320931"/>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cxnSp>
        <p:nvCxnSpPr>
          <p:cNvPr id="31" name="Straight Connector 30"/>
          <p:cNvCxnSpPr/>
          <p:nvPr/>
        </p:nvCxnSpPr>
        <p:spPr>
          <a:xfrm>
            <a:off x="1441281" y="3143605"/>
            <a:ext cx="3242014"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430046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cxnSp>
        <p:nvCxnSpPr>
          <p:cNvPr id="33" name="Straight Connector 32"/>
          <p:cNvCxnSpPr/>
          <p:nvPr/>
        </p:nvCxnSpPr>
        <p:spPr>
          <a:xfrm>
            <a:off x="1443491" y="1847088"/>
            <a:ext cx="6571343" cy="0"/>
          </a:xfrm>
          <a:prstGeom prst="line">
            <a:avLst/>
          </a:prstGeom>
          <a:ln w="31750"/>
        </p:spPr>
        <p:style>
          <a:lnRef idx="3">
            <a:schemeClr val="accent1"/>
          </a:lnRef>
          <a:fillRef idx="0">
            <a:schemeClr val="accent1"/>
          </a:fillRef>
          <a:effectRef idx="2">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166403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918028" y="798974"/>
            <a:ext cx="1103027"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3491" y="798974"/>
            <a:ext cx="5301095"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4/30/2026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15" name="Straight Connector 14"/>
          <p:cNvCxnSpPr/>
          <p:nvPr/>
        </p:nvCxnSpPr>
        <p:spPr>
          <a:xfrm>
            <a:off x="6918028" y="798974"/>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78546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10" name="Rectangle 9"/>
          <p:cNvSpPr/>
          <p:nvPr/>
        </p:nvSpPr>
        <p:spPr>
          <a:xfrm>
            <a:off x="0" y="2015734"/>
            <a:ext cx="9144000" cy="4079520"/>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12" name="Picture 11"/>
          <p:cNvPicPr>
            <a:picLocks noChangeAspect="1"/>
          </p:cNvPicPr>
          <p:nvPr/>
        </p:nvPicPr>
        <p:blipFill rotWithShape="1">
          <a:blip r:embed="rId13">
            <a:extLst>
              <a:ext uri="{28A0092B-C50C-407E-A947-70E740481C1C}">
                <a14:useLocalDpi xmlns:a14="http://schemas.microsoft.com/office/drawing/2010/main" val="0"/>
              </a:ext>
            </a:extLst>
          </a:blip>
          <a:srcRect l="12500" t="1538" r="12500" b="-1538"/>
          <a:stretch/>
        </p:blipFill>
        <p:spPr>
          <a:xfrm>
            <a:off x="-1" y="6095253"/>
            <a:ext cx="9144001" cy="774727"/>
          </a:xfrm>
          <a:prstGeom prst="rect">
            <a:avLst/>
          </a:prstGeom>
        </p:spPr>
      </p:pic>
      <p:cxnSp>
        <p:nvCxnSpPr>
          <p:cNvPr id="13" name="Straight Connector 12"/>
          <p:cNvCxnSpPr/>
          <p:nvPr/>
        </p:nvCxnSpPr>
        <p:spPr>
          <a:xfrm>
            <a:off x="0" y="6101127"/>
            <a:ext cx="9144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
        <p:nvSpPr>
          <p:cNvPr id="2" name="Title Placeholder 1"/>
          <p:cNvSpPr>
            <a:spLocks noGrp="1"/>
          </p:cNvSpPr>
          <p:nvPr>
            <p:ph type="title"/>
          </p:nvPr>
        </p:nvSpPr>
        <p:spPr>
          <a:xfrm>
            <a:off x="1443491" y="804520"/>
            <a:ext cx="6571343"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43491" y="2015733"/>
            <a:ext cx="6571343"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646542" y="330370"/>
            <a:ext cx="2368292"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4/30/2026</a:t>
            </a:fld>
            <a:endParaRPr lang="en-US"/>
          </a:p>
        </p:txBody>
      </p:sp>
      <p:sp>
        <p:nvSpPr>
          <p:cNvPr id="5" name="Footer Placeholder 4"/>
          <p:cNvSpPr>
            <a:spLocks noGrp="1"/>
          </p:cNvSpPr>
          <p:nvPr>
            <p:ph type="ftr" sz="quarter" idx="3"/>
          </p:nvPr>
        </p:nvSpPr>
        <p:spPr>
          <a:xfrm>
            <a:off x="1443491" y="329308"/>
            <a:ext cx="4034004"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7725" y="798973"/>
            <a:ext cx="795746" cy="503578"/>
          </a:xfrm>
          <a:prstGeom prst="rect">
            <a:avLst/>
          </a:prstGeom>
        </p:spPr>
        <p:txBody>
          <a:bodyPr vert="horz" lIns="91440" tIns="45720" rIns="91440" bIns="45720" rtlCol="0" anchor="t"/>
          <a:lstStyle>
            <a:lvl1pPr algn="r">
              <a:defRPr sz="2800">
                <a:solidFill>
                  <a:schemeClr val="accent1"/>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4215719374"/>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Lst>
  <p:txStyles>
    <p:titleStyle>
      <a:lvl1pPr algn="l" defTabSz="6858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685800" rtl="0" eaLnBrk="1" latinLnBrk="0" hangingPunct="1">
        <a:lnSpc>
          <a:spcPct val="120000"/>
        </a:lnSpc>
        <a:spcBef>
          <a:spcPts val="1000"/>
        </a:spcBef>
        <a:buClr>
          <a:schemeClr val="accent1"/>
        </a:buClr>
        <a:buSzPct val="100000"/>
        <a:buFont typeface="Arial" panose="020B0604020202020204" pitchFamily="34" charset="0"/>
        <a:buChar char="•"/>
        <a:defRPr sz="2000" kern="1200" cap="none">
          <a:solidFill>
            <a:schemeClr val="tx1"/>
          </a:solidFill>
          <a:effectLst/>
          <a:latin typeface="+mn-lt"/>
          <a:ea typeface="+mn-ea"/>
          <a:cs typeface="+mn-cs"/>
        </a:defRPr>
      </a:lvl1pPr>
      <a:lvl2pPr marL="6858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baseline="0">
          <a:solidFill>
            <a:schemeClr val="tx1"/>
          </a:solidFill>
          <a:effectLst/>
          <a:latin typeface="+mn-lt"/>
          <a:ea typeface="+mn-ea"/>
          <a:cs typeface="+mn-cs"/>
        </a:defRPr>
      </a:lvl2pPr>
      <a:lvl3pPr marL="11430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600" kern="1200" cap="none">
          <a:solidFill>
            <a:schemeClr val="tx1"/>
          </a:solidFill>
          <a:effectLst/>
          <a:latin typeface="+mn-lt"/>
          <a:ea typeface="+mn-ea"/>
          <a:cs typeface="+mn-cs"/>
        </a:defRPr>
      </a:lvl3pPr>
      <a:lvl4pPr marL="16002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685800" rtl="0" eaLnBrk="1" latinLnBrk="0" hangingPunct="1">
        <a:lnSpc>
          <a:spcPct val="120000"/>
        </a:lnSpc>
        <a:spcBef>
          <a:spcPts val="500"/>
        </a:spcBef>
        <a:buClr>
          <a:schemeClr val="accent1"/>
        </a:buClr>
        <a:buSzPct val="100000"/>
        <a:buFont typeface="Arial" panose="020B0604020202020204" pitchFamily="34" charset="0"/>
        <a:buChar char="•"/>
        <a:defRPr sz="1200" kern="1200" cap="none">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hyperlink" Target="https://data.cityofnewyork.us/Health/Metal-Content-of-Consumer-Products-Tested-by-the-N/da9u-wz3r/about_data"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020887"/>
          </a:xfrm>
        </p:spPr>
        <p:txBody>
          <a:bodyPr>
            <a:normAutofit/>
          </a:bodyPr>
          <a:lstStyle/>
          <a:p>
            <a:pPr algn="ctr"/>
            <a:r>
              <a:rPr lang="en-US" dirty="0"/>
              <a:t>PREDICTIVE MODEL FOR METAL CONCENTRATION IN CONSUMER GOODS </a:t>
            </a:r>
            <a:endParaRPr dirty="0"/>
          </a:p>
        </p:txBody>
      </p:sp>
      <p:sp>
        <p:nvSpPr>
          <p:cNvPr id="3" name="Content Placeholder 2"/>
          <p:cNvSpPr>
            <a:spLocks noGrp="1"/>
          </p:cNvSpPr>
          <p:nvPr>
            <p:ph idx="1"/>
          </p:nvPr>
        </p:nvSpPr>
        <p:spPr>
          <a:xfrm>
            <a:off x="457200" y="2990850"/>
            <a:ext cx="8229600" cy="3135313"/>
          </a:xfrm>
        </p:spPr>
        <p:txBody>
          <a:bodyPr/>
          <a:lstStyle/>
          <a:p>
            <a:pPr marL="0" indent="0" algn="ctr">
              <a:buNone/>
            </a:pPr>
            <a:r>
              <a:rPr lang="en-US" dirty="0"/>
              <a:t>BY NAMPEERA SHATRAH IRENE</a:t>
            </a:r>
          </a:p>
          <a:p>
            <a:pPr marL="0" indent="0" algn="ctr">
              <a:buNone/>
            </a:pPr>
            <a:r>
              <a:rPr lang="en-US" dirty="0"/>
              <a:t> 30</a:t>
            </a:r>
            <a:r>
              <a:rPr lang="en-US" baseline="30000" dirty="0"/>
              <a:t>th</a:t>
            </a:r>
            <a:r>
              <a:rPr lang="en-US" dirty="0"/>
              <a:t> APRIL, 2026</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565871"/>
          </a:xfrm>
        </p:spPr>
        <p:txBody>
          <a:bodyPr>
            <a:normAutofit/>
          </a:bodyPr>
          <a:lstStyle/>
          <a:p>
            <a:r>
              <a:rPr dirty="0"/>
              <a:t>Introduction</a:t>
            </a:r>
          </a:p>
        </p:txBody>
      </p:sp>
      <p:sp>
        <p:nvSpPr>
          <p:cNvPr id="3" name="Content Placeholder 2"/>
          <p:cNvSpPr>
            <a:spLocks noGrp="1"/>
          </p:cNvSpPr>
          <p:nvPr>
            <p:ph idx="1"/>
          </p:nvPr>
        </p:nvSpPr>
        <p:spPr>
          <a:xfrm>
            <a:off x="457200" y="840509"/>
            <a:ext cx="8229600" cy="6017491"/>
          </a:xfrm>
        </p:spPr>
        <p:txBody>
          <a:bodyPr>
            <a:noAutofit/>
          </a:bodyPr>
          <a:lstStyle/>
          <a:p>
            <a:pPr marL="0" indent="0">
              <a:lnSpc>
                <a:spcPct val="150000"/>
              </a:lnSpc>
              <a:buNone/>
            </a:pPr>
            <a:r>
              <a:rPr lang="en-US" sz="2000" dirty="0"/>
              <a:t>The </a:t>
            </a:r>
            <a:r>
              <a:rPr lang="en-US" sz="2000" b="1" dirty="0"/>
              <a:t>objective</a:t>
            </a:r>
            <a:r>
              <a:rPr lang="en-US" sz="2000" dirty="0"/>
              <a:t> of this project</a:t>
            </a:r>
            <a:r>
              <a:rPr sz="2000" dirty="0"/>
              <a:t> </a:t>
            </a:r>
            <a:r>
              <a:rPr lang="en-US" sz="2000" dirty="0"/>
              <a:t>is to p</a:t>
            </a:r>
            <a:r>
              <a:rPr sz="2000" dirty="0"/>
              <a:t>redict metal concentration</a:t>
            </a:r>
            <a:r>
              <a:rPr lang="en-US" sz="2000" dirty="0"/>
              <a:t> in consumer products based on their characteristics </a:t>
            </a:r>
            <a:r>
              <a:rPr sz="2000" dirty="0"/>
              <a:t> (e.g., Lead ppm</a:t>
            </a:r>
            <a:r>
              <a:rPr lang="en-US" sz="2000" dirty="0"/>
              <a:t>, cadmium, mercury, arsenic ppm</a:t>
            </a:r>
            <a:r>
              <a:rPr sz="2000" dirty="0"/>
              <a:t>)</a:t>
            </a:r>
          </a:p>
          <a:p>
            <a:pPr marL="0" indent="0">
              <a:lnSpc>
                <a:spcPct val="150000"/>
              </a:lnSpc>
              <a:buNone/>
            </a:pPr>
            <a:r>
              <a:rPr sz="2000" b="1" dirty="0"/>
              <a:t>Dataset</a:t>
            </a:r>
            <a:r>
              <a:rPr sz="2000" dirty="0"/>
              <a:t>: Consumer product testing data</a:t>
            </a:r>
            <a:endParaRPr lang="en-US" sz="2000" dirty="0"/>
          </a:p>
          <a:p>
            <a:pPr marL="0" marR="0" lvl="0" indent="0" defTabSz="914400" rtl="0" eaLnBrk="0" fontAlgn="base" latinLnBrk="0" hangingPunct="0">
              <a:lnSpc>
                <a:spcPct val="150000"/>
              </a:lnSpc>
              <a:spcBef>
                <a:spcPct val="0"/>
              </a:spcBef>
              <a:spcAft>
                <a:spcPct val="0"/>
              </a:spcAft>
              <a:buClrTx/>
              <a:buSzTx/>
              <a:buNone/>
              <a:tabLst/>
            </a:pPr>
            <a:r>
              <a:rPr lang="en-US" altLang="en-US" sz="2000" b="1" dirty="0"/>
              <a:t>Data source</a:t>
            </a:r>
          </a:p>
          <a:p>
            <a:pPr marL="0" marR="0" lvl="0" indent="0" defTabSz="914400" rtl="0" eaLnBrk="0" fontAlgn="base" latinLnBrk="0" hangingPunct="0">
              <a:lnSpc>
                <a:spcPct val="15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hlinkClick r:id="rId2"/>
              </a:rPr>
              <a:t>https://data.cityofnewyork.us/Health/Metal-Content-of-Consumer-Products-Tested-by-the-N/da9u-wz3r/about_data</a:t>
            </a:r>
            <a:endParaRPr lang="en-US" altLang="en-US" sz="2000" dirty="0"/>
          </a:p>
          <a:p>
            <a:pPr marL="0" marR="0" lvl="0" indent="0" defTabSz="914400" rtl="0" eaLnBrk="0" fontAlgn="base" latinLnBrk="0" hangingPunct="0">
              <a:lnSpc>
                <a:spcPct val="150000"/>
              </a:lnSpc>
              <a:spcBef>
                <a:spcPct val="0"/>
              </a:spcBef>
              <a:spcAft>
                <a:spcPct val="0"/>
              </a:spcAft>
              <a:buClrTx/>
              <a:buSzTx/>
              <a:buNone/>
              <a:tabLst/>
            </a:pPr>
            <a:r>
              <a:rPr lang="en-US" altLang="en-US" sz="2000" dirty="0"/>
              <a:t>This dataset contains 8494 rows each being a laboratory test result and </a:t>
            </a:r>
            <a:r>
              <a:rPr kumimoji="0" lang="en-US" altLang="en-US" sz="2000" b="0" i="0" u="none" strike="noStrike" cap="none" normalizeH="0" baseline="0" dirty="0">
                <a:ln>
                  <a:noFill/>
                </a:ln>
                <a:solidFill>
                  <a:schemeClr val="tx1"/>
                </a:solidFill>
                <a:effectLst/>
              </a:rPr>
              <a:t>11 columns which include; product type, product name, metal concentration, units, made in country among other records  </a:t>
            </a:r>
            <a:endParaRPr lang="en-US" sz="2000" dirty="0"/>
          </a:p>
          <a:p>
            <a:pPr marL="0" indent="0">
              <a:lnSpc>
                <a:spcPct val="150000"/>
              </a:lnSpc>
              <a:buNone/>
            </a:pPr>
            <a:r>
              <a:rPr sz="2000" b="1" dirty="0"/>
              <a:t>Goal</a:t>
            </a:r>
            <a:r>
              <a:rPr sz="2000" dirty="0"/>
              <a:t>: Improve safety analysis using M</a:t>
            </a:r>
            <a:r>
              <a:rPr lang="en-US" sz="2000" dirty="0"/>
              <a:t>achine learning</a:t>
            </a:r>
            <a:endParaRPr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Data Cleaning &amp; Preparation</a:t>
            </a:r>
          </a:p>
        </p:txBody>
      </p:sp>
      <p:sp>
        <p:nvSpPr>
          <p:cNvPr id="3" name="Content Placeholder 2"/>
          <p:cNvSpPr>
            <a:spLocks noGrp="1"/>
          </p:cNvSpPr>
          <p:nvPr>
            <p:ph idx="1"/>
          </p:nvPr>
        </p:nvSpPr>
        <p:spPr/>
        <p:txBody>
          <a:bodyPr/>
          <a:lstStyle/>
          <a:p>
            <a:pPr>
              <a:buFont typeface="Arial" panose="020B0604020202020204" pitchFamily="34" charset="0"/>
              <a:buChar char="•"/>
            </a:pPr>
            <a:r>
              <a:rPr lang="en-US" dirty="0"/>
              <a:t>Missing values were handled to maintain dataset consistency </a:t>
            </a:r>
          </a:p>
          <a:p>
            <a:pPr>
              <a:buFont typeface="Arial" panose="020B0604020202020204" pitchFamily="34" charset="0"/>
              <a:buChar char="•"/>
            </a:pPr>
            <a:r>
              <a:rPr lang="en-US" dirty="0"/>
              <a:t>Categorical features were transformed using encoding techniques </a:t>
            </a:r>
          </a:p>
          <a:p>
            <a:pPr>
              <a:buFont typeface="Arial" panose="020B0604020202020204" pitchFamily="34" charset="0"/>
              <a:buChar char="•"/>
            </a:pPr>
            <a:r>
              <a:rPr lang="en-US" dirty="0"/>
              <a:t>Numerical variables were normalized to ensure uniform scaling </a:t>
            </a:r>
          </a:p>
          <a:p>
            <a:pPr>
              <a:buFont typeface="Arial" panose="020B0604020202020204" pitchFamily="34" charset="0"/>
              <a:buChar char="•"/>
            </a:pPr>
            <a:r>
              <a:rPr lang="en-US" dirty="0"/>
              <a:t>Duplicate entries were removed to prevent data leakage </a:t>
            </a:r>
          </a:p>
          <a:p>
            <a:pPr marL="0" indent="0">
              <a:buNone/>
            </a:pPr>
            <a:endParaRPr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Exploratory Data Analysis</a:t>
            </a:r>
          </a:p>
        </p:txBody>
      </p:sp>
      <p:sp>
        <p:nvSpPr>
          <p:cNvPr id="4" name="Rectangle 1">
            <a:extLst>
              <a:ext uri="{FF2B5EF4-FFF2-40B4-BE49-F238E27FC236}">
                <a16:creationId xmlns:a16="http://schemas.microsoft.com/office/drawing/2014/main" id="{1F416720-FA5A-4111-99A1-723160B81067}"/>
              </a:ext>
            </a:extLst>
          </p:cNvPr>
          <p:cNvSpPr>
            <a:spLocks noGrp="1" noChangeArrowheads="1"/>
          </p:cNvSpPr>
          <p:nvPr>
            <p:ph idx="1"/>
          </p:nvPr>
        </p:nvSpPr>
        <p:spPr bwMode="auto">
          <a:xfrm>
            <a:off x="1443491" y="2199880"/>
            <a:ext cx="6957559" cy="3082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Analyzed key data distributions to understand metal concentration patterns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Examined relationships between variables using correlation analysis </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b="0" i="0" u="none" strike="noStrike" cap="none" normalizeH="0" baseline="0" dirty="0">
                <a:ln>
                  <a:noFill/>
                </a:ln>
                <a:solidFill>
                  <a:schemeClr val="tx1"/>
                </a:solidFill>
                <a:effectLst/>
                <a:latin typeface="Arial" panose="020B0604020202020204" pitchFamily="34" charset="0"/>
              </a:rPr>
              <a:t>Observed significant variation in metal levels across product categories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a:extLst>
              <a:ext uri="{FF2B5EF4-FFF2-40B4-BE49-F238E27FC236}">
                <a16:creationId xmlns:a16="http://schemas.microsoft.com/office/drawing/2014/main" id="{79131D5A-E60A-4FB6-8CE3-33021F70A54E}"/>
              </a:ext>
            </a:extLst>
          </p:cNvPr>
          <p:cNvSpPr>
            <a:spLocks noGrp="1"/>
          </p:cNvSpPr>
          <p:nvPr>
            <p:ph type="title"/>
          </p:nvPr>
        </p:nvSpPr>
        <p:spPr>
          <a:xfrm>
            <a:off x="590551" y="804891"/>
            <a:ext cx="7424284" cy="601614"/>
          </a:xfrm>
        </p:spPr>
        <p:txBody>
          <a:bodyPr/>
          <a:lstStyle/>
          <a:p>
            <a:r>
              <a:rPr lang="en-US" dirty="0"/>
              <a:t>METAL CONCENTRATION</a:t>
            </a:r>
          </a:p>
        </p:txBody>
      </p:sp>
      <p:sp>
        <p:nvSpPr>
          <p:cNvPr id="8" name="Content Placeholder 7">
            <a:extLst>
              <a:ext uri="{FF2B5EF4-FFF2-40B4-BE49-F238E27FC236}">
                <a16:creationId xmlns:a16="http://schemas.microsoft.com/office/drawing/2014/main" id="{65CE5D9C-8BA6-484A-A287-17FA23814914}"/>
              </a:ext>
            </a:extLst>
          </p:cNvPr>
          <p:cNvSpPr>
            <a:spLocks noGrp="1"/>
          </p:cNvSpPr>
          <p:nvPr>
            <p:ph sz="half" idx="1"/>
          </p:nvPr>
        </p:nvSpPr>
        <p:spPr/>
        <p:txBody>
          <a:bodyPr/>
          <a:lstStyle/>
          <a:p>
            <a:r>
              <a:rPr lang="en-US" dirty="0"/>
              <a:t>Text</a:t>
            </a:r>
          </a:p>
          <a:p>
            <a:endParaRPr lang="en-US" dirty="0"/>
          </a:p>
        </p:txBody>
      </p:sp>
      <p:sp>
        <p:nvSpPr>
          <p:cNvPr id="14" name="Content Placeholder 13">
            <a:extLst>
              <a:ext uri="{FF2B5EF4-FFF2-40B4-BE49-F238E27FC236}">
                <a16:creationId xmlns:a16="http://schemas.microsoft.com/office/drawing/2014/main" id="{536C22EA-D9EB-40FC-A662-9611E970B61E}"/>
              </a:ext>
            </a:extLst>
          </p:cNvPr>
          <p:cNvSpPr>
            <a:spLocks noGrp="1"/>
          </p:cNvSpPr>
          <p:nvPr>
            <p:ph sz="half" idx="2"/>
          </p:nvPr>
        </p:nvSpPr>
        <p:spPr/>
        <p:txBody>
          <a:bodyPr/>
          <a:lstStyle/>
          <a:p>
            <a:r>
              <a:rPr lang="en-US" dirty="0"/>
              <a:t>Most products have low metal concentration, but a few extreme values indicate potentially hazardous contamination.</a:t>
            </a:r>
          </a:p>
        </p:txBody>
      </p:sp>
      <p:pic>
        <p:nvPicPr>
          <p:cNvPr id="15" name="Picture 14">
            <a:extLst>
              <a:ext uri="{FF2B5EF4-FFF2-40B4-BE49-F238E27FC236}">
                <a16:creationId xmlns:a16="http://schemas.microsoft.com/office/drawing/2014/main" id="{0651B9D3-BC10-450A-8029-416397100C34}"/>
              </a:ext>
            </a:extLst>
          </p:cNvPr>
          <p:cNvPicPr>
            <a:picLocks noChangeAspect="1"/>
          </p:cNvPicPr>
          <p:nvPr/>
        </p:nvPicPr>
        <p:blipFill>
          <a:blip r:embed="rId2"/>
          <a:stretch>
            <a:fillRect/>
          </a:stretch>
        </p:blipFill>
        <p:spPr>
          <a:xfrm>
            <a:off x="457200" y="1895475"/>
            <a:ext cx="3662218" cy="3700462"/>
          </a:xfrm>
          <a:prstGeom prst="rect">
            <a:avLst/>
          </a:prstGeom>
        </p:spPr>
      </p:pic>
    </p:spTree>
    <p:extLst>
      <p:ext uri="{BB962C8B-B14F-4D97-AF65-F5344CB8AC3E}">
        <p14:creationId xmlns:p14="http://schemas.microsoft.com/office/powerpoint/2010/main" val="1379124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3623DC-88A2-4DD5-A4A6-229AAA12EF43}"/>
              </a:ext>
            </a:extLst>
          </p:cNvPr>
          <p:cNvSpPr>
            <a:spLocks noGrp="1"/>
          </p:cNvSpPr>
          <p:nvPr>
            <p:ph type="title"/>
          </p:nvPr>
        </p:nvSpPr>
        <p:spPr>
          <a:xfrm>
            <a:off x="1443491" y="804891"/>
            <a:ext cx="6571343" cy="852460"/>
          </a:xfrm>
        </p:spPr>
        <p:txBody>
          <a:bodyPr/>
          <a:lstStyle/>
          <a:p>
            <a:r>
              <a:rPr lang="en-US" dirty="0"/>
              <a:t>NUMBER OF PRODUCTS BY TYPE</a:t>
            </a:r>
          </a:p>
        </p:txBody>
      </p:sp>
      <p:pic>
        <p:nvPicPr>
          <p:cNvPr id="4098" name="Picture 2">
            <a:extLst>
              <a:ext uri="{FF2B5EF4-FFF2-40B4-BE49-F238E27FC236}">
                <a16:creationId xmlns:a16="http://schemas.microsoft.com/office/drawing/2014/main" id="{0838800F-E4DB-460B-A80B-F35A88429FA4}"/>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443038" y="2040948"/>
            <a:ext cx="3125787" cy="3384116"/>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BC88C57D-D596-412B-A7E8-A5BD400F8687}"/>
              </a:ext>
            </a:extLst>
          </p:cNvPr>
          <p:cNvSpPr>
            <a:spLocks noGrp="1"/>
          </p:cNvSpPr>
          <p:nvPr>
            <p:ph sz="half" idx="2"/>
          </p:nvPr>
        </p:nvSpPr>
        <p:spPr/>
        <p:txBody>
          <a:bodyPr/>
          <a:lstStyle/>
          <a:p>
            <a:r>
              <a:rPr lang="en-US" dirty="0"/>
              <a:t>Certain product types dominate the dataset, suggesting targeted testing or higher exposure risk.</a:t>
            </a:r>
          </a:p>
        </p:txBody>
      </p:sp>
    </p:spTree>
    <p:extLst>
      <p:ext uri="{BB962C8B-B14F-4D97-AF65-F5344CB8AC3E}">
        <p14:creationId xmlns:p14="http://schemas.microsoft.com/office/powerpoint/2010/main" val="1413284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18470-BAAC-456A-A7F1-E7B02D30AF77}"/>
              </a:ext>
            </a:extLst>
          </p:cNvPr>
          <p:cNvSpPr>
            <a:spLocks noGrp="1"/>
          </p:cNvSpPr>
          <p:nvPr>
            <p:ph type="title"/>
          </p:nvPr>
        </p:nvSpPr>
        <p:spPr/>
        <p:txBody>
          <a:bodyPr>
            <a:normAutofit/>
          </a:bodyPr>
          <a:lstStyle/>
          <a:p>
            <a:r>
              <a:rPr lang="en-US" dirty="0"/>
              <a:t>Concentration by the top 10 countries</a:t>
            </a:r>
          </a:p>
        </p:txBody>
      </p:sp>
      <p:graphicFrame>
        <p:nvGraphicFramePr>
          <p:cNvPr id="4" name="Content Placeholder 3">
            <a:extLst>
              <a:ext uri="{FF2B5EF4-FFF2-40B4-BE49-F238E27FC236}">
                <a16:creationId xmlns:a16="http://schemas.microsoft.com/office/drawing/2014/main" id="{AA600146-A5D6-4709-AD77-8EB68B5EAD20}"/>
              </a:ext>
            </a:extLst>
          </p:cNvPr>
          <p:cNvGraphicFramePr>
            <a:graphicFrameLocks noGrp="1"/>
          </p:cNvGraphicFramePr>
          <p:nvPr>
            <p:ph sz="half" idx="1"/>
            <p:extLst>
              <p:ext uri="{D42A27DB-BD31-4B8C-83A1-F6EECF244321}">
                <p14:modId xmlns:p14="http://schemas.microsoft.com/office/powerpoint/2010/main" val="1286130718"/>
              </p:ext>
            </p:extLst>
          </p:nvPr>
        </p:nvGraphicFramePr>
        <p:xfrm>
          <a:off x="1443038" y="2014538"/>
          <a:ext cx="3125787" cy="34369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8" name="Content Placeholder 7">
            <a:extLst>
              <a:ext uri="{FF2B5EF4-FFF2-40B4-BE49-F238E27FC236}">
                <a16:creationId xmlns:a16="http://schemas.microsoft.com/office/drawing/2014/main" id="{CBECF437-D931-45B9-8EDA-0BB14F0502D7}"/>
              </a:ext>
            </a:extLst>
          </p:cNvPr>
          <p:cNvSpPr>
            <a:spLocks noGrp="1"/>
          </p:cNvSpPr>
          <p:nvPr>
            <p:ph sz="half" idx="2"/>
          </p:nvPr>
        </p:nvSpPr>
        <p:spPr/>
        <p:txBody>
          <a:bodyPr>
            <a:normAutofit lnSpcReduction="10000"/>
          </a:bodyPr>
          <a:lstStyle/>
          <a:p>
            <a:endParaRPr lang="en-US" dirty="0"/>
          </a:p>
          <a:p>
            <a:r>
              <a:rPr lang="en-US" sz="1700" dirty="0"/>
              <a:t>The data set showed that most of the countries with the highest metal concentration were not known but from the known ones India was the leading country in producing contaminated products that is they had high metal concentration which is so risky for peoples health</a:t>
            </a:r>
          </a:p>
        </p:txBody>
      </p:sp>
    </p:spTree>
    <p:extLst>
      <p:ext uri="{BB962C8B-B14F-4D97-AF65-F5344CB8AC3E}">
        <p14:creationId xmlns:p14="http://schemas.microsoft.com/office/powerpoint/2010/main" val="35157240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AEAF7-F022-4A86-8467-F6A3EEE08FAD}"/>
              </a:ext>
            </a:extLst>
          </p:cNvPr>
          <p:cNvSpPr>
            <a:spLocks noGrp="1"/>
          </p:cNvSpPr>
          <p:nvPr>
            <p:ph type="title"/>
          </p:nvPr>
        </p:nvSpPr>
        <p:spPr/>
        <p:txBody>
          <a:bodyPr>
            <a:normAutofit/>
          </a:bodyPr>
          <a:lstStyle/>
          <a:p>
            <a:r>
              <a:rPr lang="en-US" sz="2800" dirty="0"/>
              <a:t>Box plot shows concentration across the metals</a:t>
            </a:r>
          </a:p>
        </p:txBody>
      </p:sp>
      <p:pic>
        <p:nvPicPr>
          <p:cNvPr id="2050" name="Picture 2">
            <a:extLst>
              <a:ext uri="{FF2B5EF4-FFF2-40B4-BE49-F238E27FC236}">
                <a16:creationId xmlns:a16="http://schemas.microsoft.com/office/drawing/2014/main" id="{4FC49707-EC3A-423B-A950-375836796115}"/>
              </a:ext>
            </a:extLst>
          </p:cNvPr>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tretch>
            <a:fillRect/>
          </a:stretch>
        </p:blipFill>
        <p:spPr bwMode="auto">
          <a:xfrm>
            <a:off x="1443038" y="2604250"/>
            <a:ext cx="3125787" cy="2257512"/>
          </a:xfrm>
          <a:prstGeom prst="rect">
            <a:avLst/>
          </a:prstGeom>
          <a:noFill/>
          <a:extLst>
            <a:ext uri="{909E8E84-426E-40DD-AFC4-6F175D3DCCD1}">
              <a14:hiddenFill xmlns:a14="http://schemas.microsoft.com/office/drawing/2010/main">
                <a:solidFill>
                  <a:srgbClr val="FFFFFF"/>
                </a:solidFill>
              </a14:hiddenFill>
            </a:ext>
          </a:extLst>
        </p:spPr>
      </p:pic>
      <p:sp>
        <p:nvSpPr>
          <p:cNvPr id="4" name="Content Placeholder 3">
            <a:extLst>
              <a:ext uri="{FF2B5EF4-FFF2-40B4-BE49-F238E27FC236}">
                <a16:creationId xmlns:a16="http://schemas.microsoft.com/office/drawing/2014/main" id="{C88D6692-CC4E-4F85-911C-6ED94D724A1F}"/>
              </a:ext>
            </a:extLst>
          </p:cNvPr>
          <p:cNvSpPr>
            <a:spLocks noGrp="1"/>
          </p:cNvSpPr>
          <p:nvPr>
            <p:ph sz="half" idx="2"/>
          </p:nvPr>
        </p:nvSpPr>
        <p:spPr/>
        <p:txBody>
          <a:bodyPr>
            <a:noAutofit/>
          </a:bodyPr>
          <a:lstStyle/>
          <a:p>
            <a:pPr>
              <a:buFont typeface="Arial" panose="020B0604020202020204" pitchFamily="34" charset="0"/>
              <a:buChar char="•"/>
            </a:pPr>
            <a:r>
              <a:rPr lang="en-US" sz="1200" dirty="0"/>
              <a:t>The box plot compares the concentration across metal</a:t>
            </a:r>
          </a:p>
          <a:p>
            <a:pPr>
              <a:buFont typeface="Arial" panose="020B0604020202020204" pitchFamily="34" charset="0"/>
              <a:buChar char="•"/>
            </a:pPr>
            <a:r>
              <a:rPr lang="en-US" sz="1100" b="1" dirty="0"/>
              <a:t>Lead shows the highest variability and extreme values</a:t>
            </a:r>
            <a:br>
              <a:rPr lang="en-US" sz="1100" dirty="0"/>
            </a:br>
            <a:r>
              <a:rPr lang="en-US" sz="1100" dirty="0"/>
              <a:t>Many outliers indicate some products contain </a:t>
            </a:r>
            <a:r>
              <a:rPr lang="en-US" sz="1100" b="1" dirty="0"/>
              <a:t>very high lead concentrations</a:t>
            </a:r>
            <a:r>
              <a:rPr lang="en-US" sz="1100" dirty="0"/>
              <a:t>, making it the most concerning metal.</a:t>
            </a:r>
          </a:p>
          <a:p>
            <a:pPr>
              <a:buFont typeface="Arial" panose="020B0604020202020204" pitchFamily="34" charset="0"/>
              <a:buChar char="•"/>
            </a:pPr>
            <a:r>
              <a:rPr lang="en-US" sz="1100" b="1" dirty="0"/>
              <a:t>Total Solids have consistently high concentration levels</a:t>
            </a:r>
            <a:br>
              <a:rPr lang="en-US" sz="1100" dirty="0"/>
            </a:br>
            <a:r>
              <a:rPr lang="en-US" sz="1100" dirty="0"/>
              <a:t>Unlike other metals, values are concentrated at a higher range, suggesting it behaves differently from toxic metals.</a:t>
            </a:r>
          </a:p>
        </p:txBody>
      </p:sp>
    </p:spTree>
    <p:extLst>
      <p:ext uri="{BB962C8B-B14F-4D97-AF65-F5344CB8AC3E}">
        <p14:creationId xmlns:p14="http://schemas.microsoft.com/office/powerpoint/2010/main" val="35070342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198BC2E-ACFF-4579-B7D5-63D28F541720}"/>
              </a:ext>
            </a:extLst>
          </p:cNvPr>
          <p:cNvSpPr>
            <a:spLocks noGrp="1"/>
          </p:cNvSpPr>
          <p:nvPr>
            <p:ph type="title"/>
          </p:nvPr>
        </p:nvSpPr>
        <p:spPr/>
        <p:txBody>
          <a:bodyPr/>
          <a:lstStyle/>
          <a:p>
            <a:r>
              <a:rPr lang="en-US" dirty="0"/>
              <a:t>Conti…..</a:t>
            </a:r>
          </a:p>
        </p:txBody>
      </p:sp>
      <p:sp>
        <p:nvSpPr>
          <p:cNvPr id="6" name="Content Placeholder 5">
            <a:extLst>
              <a:ext uri="{FF2B5EF4-FFF2-40B4-BE49-F238E27FC236}">
                <a16:creationId xmlns:a16="http://schemas.microsoft.com/office/drawing/2014/main" id="{F4B0328F-40CA-4264-8526-FF838AD3860C}"/>
              </a:ext>
            </a:extLst>
          </p:cNvPr>
          <p:cNvSpPr>
            <a:spLocks noGrp="1"/>
          </p:cNvSpPr>
          <p:nvPr>
            <p:ph idx="1"/>
          </p:nvPr>
        </p:nvSpPr>
        <p:spPr/>
        <p:txBody>
          <a:bodyPr>
            <a:normAutofit fontScale="92500" lnSpcReduction="20000"/>
          </a:bodyPr>
          <a:lstStyle/>
          <a:p>
            <a:r>
              <a:rPr lang="en-US" b="1" dirty="0"/>
              <a:t>Mercury shows moderate variation with some outliers</a:t>
            </a:r>
            <a:br>
              <a:rPr lang="en-US" dirty="0"/>
            </a:br>
            <a:r>
              <a:rPr lang="en-US" dirty="0"/>
              <a:t>This indicates occasional high contamination but less extreme than lead.</a:t>
            </a:r>
          </a:p>
          <a:p>
            <a:r>
              <a:rPr lang="en-US" b="1" dirty="0"/>
              <a:t>Arsenic, Cadmium, and Chromium have relatively low concentrations</a:t>
            </a:r>
            <a:br>
              <a:rPr lang="en-US" dirty="0"/>
            </a:br>
            <a:r>
              <a:rPr lang="en-US" dirty="0"/>
              <a:t>Most values are close to zero, suggesting lower contamination levels in tested products.</a:t>
            </a:r>
          </a:p>
          <a:p>
            <a:r>
              <a:rPr lang="en-US" b="1" dirty="0"/>
              <a:t>Presence of many outliers across metals</a:t>
            </a:r>
            <a:br>
              <a:rPr lang="en-US" dirty="0"/>
            </a:br>
            <a:r>
              <a:rPr lang="en-US" dirty="0"/>
              <a:t>→ Indicates </a:t>
            </a:r>
            <a:r>
              <a:rPr lang="en-US" b="1" dirty="0"/>
              <a:t>irregular contamination patterns</a:t>
            </a:r>
            <a:r>
              <a:rPr lang="en-US" dirty="0"/>
              <a:t>, possibly due to differences in product types or sources. </a:t>
            </a:r>
          </a:p>
          <a:p>
            <a:endParaRPr lang="en-US" dirty="0"/>
          </a:p>
        </p:txBody>
      </p:sp>
    </p:spTree>
    <p:extLst>
      <p:ext uri="{BB962C8B-B14F-4D97-AF65-F5344CB8AC3E}">
        <p14:creationId xmlns:p14="http://schemas.microsoft.com/office/powerpoint/2010/main" val="15562118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44537"/>
          </a:xfrm>
        </p:spPr>
        <p:txBody>
          <a:bodyPr>
            <a:normAutofit/>
          </a:bodyPr>
          <a:lstStyle/>
          <a:p>
            <a:r>
              <a:rPr dirty="0"/>
              <a:t>Model</a:t>
            </a:r>
            <a:r>
              <a:rPr lang="en-US" dirty="0"/>
              <a:t>ing approach</a:t>
            </a:r>
            <a:endParaRPr dirty="0"/>
          </a:p>
        </p:txBody>
      </p:sp>
      <p:sp>
        <p:nvSpPr>
          <p:cNvPr id="3" name="Content Placeholder 2"/>
          <p:cNvSpPr>
            <a:spLocks noGrp="1"/>
          </p:cNvSpPr>
          <p:nvPr>
            <p:ph idx="1"/>
          </p:nvPr>
        </p:nvSpPr>
        <p:spPr/>
        <p:txBody>
          <a:bodyPr>
            <a:normAutofit fontScale="92500"/>
          </a:bodyPr>
          <a:lstStyle/>
          <a:p>
            <a:pPr marL="0" indent="0">
              <a:buNone/>
            </a:pPr>
            <a:endParaRPr lang="en-US" dirty="0"/>
          </a:p>
          <a:p>
            <a:r>
              <a:rPr lang="en-US" b="1" dirty="0"/>
              <a:t>Random Forest</a:t>
            </a:r>
            <a:r>
              <a:rPr lang="en-US" dirty="0"/>
              <a:t>: Random Forest is an ensemble method that builds multiple decision trees and averages their predictions. It’s known for its accuracy and robustness, it works with many numerical and categorical features and is resistant to outliers.</a:t>
            </a:r>
          </a:p>
          <a:p>
            <a:r>
              <a:rPr lang="en-US" b="1" dirty="0"/>
              <a:t>Neural network: </a:t>
            </a:r>
            <a:r>
              <a:rPr lang="en-US" dirty="0"/>
              <a:t>starts with random weights and later produces the final prediction for dataset. It then calculates the loss or how far off the predictions are from the actual values</a:t>
            </a:r>
          </a:p>
          <a:p>
            <a:pPr marL="0" indent="0">
              <a:buNone/>
            </a:pPr>
            <a:endParaRPr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Results</a:t>
            </a:r>
          </a:p>
        </p:txBody>
      </p:sp>
      <p:sp>
        <p:nvSpPr>
          <p:cNvPr id="3" name="Content Placeholder 2"/>
          <p:cNvSpPr>
            <a:spLocks noGrp="1"/>
          </p:cNvSpPr>
          <p:nvPr>
            <p:ph idx="1"/>
          </p:nvPr>
        </p:nvSpPr>
        <p:spPr/>
        <p:txBody>
          <a:bodyPr>
            <a:normAutofit/>
          </a:bodyPr>
          <a:lstStyle/>
          <a:p>
            <a:r>
              <a:rPr lang="en-US" dirty="0"/>
              <a:t>Certain product types show consistently higher contamination levels</a:t>
            </a:r>
          </a:p>
          <a:p>
            <a:r>
              <a:rPr lang="en-US" dirty="0"/>
              <a:t>Country of origin significantly influences contamination risk</a:t>
            </a:r>
          </a:p>
          <a:p>
            <a:r>
              <a:rPr lang="en-US" dirty="0"/>
              <a:t>Model successfully identifies high-risk products for prioritization</a:t>
            </a:r>
          </a:p>
          <a:p>
            <a:endParaRPr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15B75F-E4A8-40BA-9B52-83C9721849F9}"/>
              </a:ext>
            </a:extLst>
          </p:cNvPr>
          <p:cNvSpPr>
            <a:spLocks noGrp="1"/>
          </p:cNvSpPr>
          <p:nvPr>
            <p:ph type="title"/>
          </p:nvPr>
        </p:nvSpPr>
        <p:spPr/>
        <p:txBody>
          <a:bodyPr/>
          <a:lstStyle/>
          <a:p>
            <a:r>
              <a:rPr lang="en-US" dirty="0"/>
              <a:t>Random forest </a:t>
            </a:r>
          </a:p>
        </p:txBody>
      </p:sp>
      <p:sp>
        <p:nvSpPr>
          <p:cNvPr id="3" name="Content Placeholder 2">
            <a:extLst>
              <a:ext uri="{FF2B5EF4-FFF2-40B4-BE49-F238E27FC236}">
                <a16:creationId xmlns:a16="http://schemas.microsoft.com/office/drawing/2014/main" id="{0C18EBCF-BEF4-46D9-B1E2-676982440220}"/>
              </a:ext>
            </a:extLst>
          </p:cNvPr>
          <p:cNvSpPr>
            <a:spLocks noGrp="1"/>
          </p:cNvSpPr>
          <p:nvPr>
            <p:ph idx="1"/>
          </p:nvPr>
        </p:nvSpPr>
        <p:spPr/>
        <p:txBody>
          <a:bodyPr>
            <a:normAutofit fontScale="77500" lnSpcReduction="20000"/>
          </a:bodyPr>
          <a:lstStyle/>
          <a:p>
            <a:r>
              <a:rPr lang="en-US" sz="2200" dirty="0"/>
              <a:t>Features from the dataset don’t strongly show contamination</a:t>
            </a:r>
          </a:p>
          <a:p>
            <a:r>
              <a:rPr lang="en-US" sz="2200" b="1" dirty="0"/>
              <a:t>Summary</a:t>
            </a:r>
            <a:r>
              <a:rPr lang="en-US" sz="2200" dirty="0"/>
              <a:t>: Random Forest is the most balanced and accurate model. It handles both false positives and false negatives well, making it a strong candidate for deployment</a:t>
            </a:r>
          </a:p>
          <a:p>
            <a:pPr marL="0" indent="0">
              <a:buNone/>
            </a:pPr>
            <a:r>
              <a:rPr lang="en-US" sz="2200" b="1" dirty="0"/>
              <a:t>Random Forest Predictions</a:t>
            </a:r>
            <a:r>
              <a:rPr lang="en-US" sz="2200" dirty="0"/>
              <a:t>: </a:t>
            </a:r>
          </a:p>
          <a:p>
            <a:pPr marL="0" indent="0">
              <a:buNone/>
            </a:pPr>
            <a:r>
              <a:rPr lang="en-US" sz="2200" dirty="0"/>
              <a:t>[0.00000000e+00 </a:t>
            </a:r>
            <a:r>
              <a:rPr lang="en-US" sz="2200" dirty="0" err="1"/>
              <a:t>0.00000000e+00</a:t>
            </a:r>
            <a:r>
              <a:rPr lang="en-US" sz="2200" dirty="0"/>
              <a:t> 3.39326667e-01 6.36871067e+02</a:t>
            </a:r>
          </a:p>
          <a:p>
            <a:pPr marL="0" indent="0">
              <a:buNone/>
            </a:pPr>
            <a:r>
              <a:rPr lang="en-US" sz="2200" dirty="0"/>
              <a:t>0.00000000e+00] </a:t>
            </a:r>
          </a:p>
          <a:p>
            <a:r>
              <a:rPr lang="en-US" sz="2200" dirty="0"/>
              <a:t>this indicates that the dataset has many low or near zero contamination values which is a good indicator that most of the  goods have low metal concentration.</a:t>
            </a:r>
          </a:p>
        </p:txBody>
      </p:sp>
    </p:spTree>
    <p:extLst>
      <p:ext uri="{BB962C8B-B14F-4D97-AF65-F5344CB8AC3E}">
        <p14:creationId xmlns:p14="http://schemas.microsoft.com/office/powerpoint/2010/main" val="5362907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1F5E3-9039-4BDF-A0E3-48F3B7BA6BD6}"/>
              </a:ext>
            </a:extLst>
          </p:cNvPr>
          <p:cNvSpPr>
            <a:spLocks noGrp="1"/>
          </p:cNvSpPr>
          <p:nvPr>
            <p:ph type="title"/>
          </p:nvPr>
        </p:nvSpPr>
        <p:spPr/>
        <p:txBody>
          <a:bodyPr/>
          <a:lstStyle/>
          <a:p>
            <a:r>
              <a:rPr lang="en-US" dirty="0"/>
              <a:t>Neural network</a:t>
            </a:r>
          </a:p>
        </p:txBody>
      </p:sp>
      <p:sp>
        <p:nvSpPr>
          <p:cNvPr id="3" name="Content Placeholder 2">
            <a:extLst>
              <a:ext uri="{FF2B5EF4-FFF2-40B4-BE49-F238E27FC236}">
                <a16:creationId xmlns:a16="http://schemas.microsoft.com/office/drawing/2014/main" id="{08D45D0A-2039-4003-BA45-2A3A09F026C3}"/>
              </a:ext>
            </a:extLst>
          </p:cNvPr>
          <p:cNvSpPr>
            <a:spLocks noGrp="1"/>
          </p:cNvSpPr>
          <p:nvPr>
            <p:ph idx="1"/>
          </p:nvPr>
        </p:nvSpPr>
        <p:spPr/>
        <p:txBody>
          <a:bodyPr>
            <a:normAutofit/>
          </a:bodyPr>
          <a:lstStyle/>
          <a:p>
            <a:pPr marL="0" indent="0">
              <a:buNone/>
            </a:pPr>
            <a:r>
              <a:rPr lang="en-US" sz="2400" dirty="0"/>
              <a:t>The results show inconsistency in the data</a:t>
            </a:r>
          </a:p>
          <a:p>
            <a:pPr marL="0" indent="0">
              <a:buNone/>
            </a:pPr>
            <a:r>
              <a:rPr lang="en-US" sz="2400" dirty="0"/>
              <a:t>neural Network (MLP) Predictions: 1326.25,817.28,443.96ppm</a:t>
            </a:r>
          </a:p>
          <a:p>
            <a:pPr marL="0" indent="0">
              <a:buNone/>
            </a:pPr>
            <a:r>
              <a:rPr lang="en-US" sz="2400" dirty="0"/>
              <a:t>6581.07268197ppm is extremely a high estimation or over estimation</a:t>
            </a:r>
          </a:p>
        </p:txBody>
      </p:sp>
    </p:spTree>
    <p:extLst>
      <p:ext uri="{BB962C8B-B14F-4D97-AF65-F5344CB8AC3E}">
        <p14:creationId xmlns:p14="http://schemas.microsoft.com/office/powerpoint/2010/main" val="36893286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2637"/>
          </a:xfrm>
        </p:spPr>
        <p:txBody>
          <a:bodyPr/>
          <a:lstStyle/>
          <a:p>
            <a:pPr algn="ctr"/>
            <a:r>
              <a:rPr lang="en-US" dirty="0"/>
              <a:t>Comparing models</a:t>
            </a:r>
            <a:endParaRPr dirty="0"/>
          </a:p>
        </p:txBody>
      </p:sp>
      <p:sp>
        <p:nvSpPr>
          <p:cNvPr id="3" name="Content Placeholder 2"/>
          <p:cNvSpPr>
            <a:spLocks noGrp="1"/>
          </p:cNvSpPr>
          <p:nvPr>
            <p:ph idx="1"/>
          </p:nvPr>
        </p:nvSpPr>
        <p:spPr>
          <a:xfrm>
            <a:off x="1443491" y="1905001"/>
            <a:ext cx="6571343" cy="3561346"/>
          </a:xfrm>
        </p:spPr>
        <p:txBody>
          <a:bodyPr>
            <a:noAutofit/>
          </a:bodyPr>
          <a:lstStyle/>
          <a:p>
            <a:r>
              <a:rPr lang="pt-BR" sz="1200" dirty="0"/>
              <a:t>Random Forest</a:t>
            </a:r>
          </a:p>
          <a:p>
            <a:r>
              <a:rPr lang="pt-BR" sz="1200" dirty="0"/>
              <a:t>MSE: 2611008128.374824</a:t>
            </a:r>
          </a:p>
          <a:p>
            <a:r>
              <a:rPr lang="pt-BR" sz="1200" dirty="0"/>
              <a:t>R2: 0.6071951174101864</a:t>
            </a:r>
          </a:p>
          <a:p>
            <a:r>
              <a:rPr lang="pt-BR" sz="1200" dirty="0"/>
              <a:t>Neural Network (MLP)</a:t>
            </a:r>
          </a:p>
          <a:p>
            <a:r>
              <a:rPr lang="pt-BR" sz="1200" dirty="0"/>
              <a:t>MSE: 7674873883.080766</a:t>
            </a:r>
          </a:p>
          <a:p>
            <a:r>
              <a:rPr lang="pt-BR" sz="1200" dirty="0"/>
              <a:t>R2: -0.1546221943060866</a:t>
            </a:r>
            <a:endParaRPr lang="en-US" sz="1200" dirty="0"/>
          </a:p>
          <a:p>
            <a:r>
              <a:rPr lang="en-US" sz="1200" dirty="0"/>
              <a:t>The Random Forest model achieved an R² score of 0.607, indicating moderate predictive capability. In contrast, the Neural Network (MLP) produced a negative R² score of −0.155, meaning it performed worse than a baseline model that predicts the mean. This suggests that the neural network failed to learn meaningful patterns from the dataset. The results confirm that tree-based models are more suitable for this structured tabular dataset.</a:t>
            </a:r>
            <a:endParaRPr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Conclusion</a:t>
            </a:r>
          </a:p>
        </p:txBody>
      </p:sp>
      <p:sp>
        <p:nvSpPr>
          <p:cNvPr id="3" name="Content Placeholder 2"/>
          <p:cNvSpPr>
            <a:spLocks noGrp="1"/>
          </p:cNvSpPr>
          <p:nvPr>
            <p:ph idx="1"/>
          </p:nvPr>
        </p:nvSpPr>
        <p:spPr/>
        <p:txBody>
          <a:bodyPr/>
          <a:lstStyle/>
          <a:p>
            <a:pPr marL="0" indent="0">
              <a:buNone/>
            </a:pPr>
            <a:r>
              <a:rPr lang="en-US" dirty="0"/>
              <a:t>Neural networks are not universally superior—model performance depends heavily on data type. For structured tabular datasets, ensemble tree-based models are often more effective.</a:t>
            </a:r>
            <a:endParaRPr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Future Work</a:t>
            </a:r>
          </a:p>
        </p:txBody>
      </p:sp>
      <p:sp>
        <p:nvSpPr>
          <p:cNvPr id="3" name="Content Placeholder 2"/>
          <p:cNvSpPr>
            <a:spLocks noGrp="1"/>
          </p:cNvSpPr>
          <p:nvPr>
            <p:ph idx="1"/>
          </p:nvPr>
        </p:nvSpPr>
        <p:spPr/>
        <p:txBody>
          <a:bodyPr/>
          <a:lstStyle/>
          <a:p>
            <a:r>
              <a:rPr dirty="0"/>
              <a:t>- Use larger datasets</a:t>
            </a:r>
            <a:r>
              <a:rPr lang="en-US" dirty="0"/>
              <a:t> because it makes predictions more reliable in real-world deployment</a:t>
            </a:r>
            <a:endParaRPr dirty="0"/>
          </a:p>
          <a:p>
            <a:r>
              <a:rPr dirty="0"/>
              <a:t>- Deploy model as an app</a:t>
            </a:r>
            <a:r>
              <a:rPr lang="en-US" dirty="0"/>
              <a:t> because this turns the model into a usable product instead of just a notebook.</a:t>
            </a:r>
            <a:endParaRPr dirty="0"/>
          </a:p>
          <a:p>
            <a:r>
              <a:rPr dirty="0"/>
              <a:t>- Real-time monitoring integration</a:t>
            </a:r>
            <a:r>
              <a:rPr lang="en-US" dirty="0"/>
              <a:t>, this detects when model stops performing well, helps retraining decisions and ensures reliability in production </a:t>
            </a:r>
          </a:p>
          <a:p>
            <a:endParaRPr dirty="0"/>
          </a:p>
        </p:txBody>
      </p:sp>
    </p:spTree>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Gallery</Template>
  <TotalTime>1010</TotalTime>
  <Words>809</Words>
  <Application>Microsoft Office PowerPoint</Application>
  <PresentationFormat>On-screen Show (4:3)</PresentationFormat>
  <Paragraphs>69</Paragraphs>
  <Slides>16</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Gill Sans MT</vt:lpstr>
      <vt:lpstr>Gallery</vt:lpstr>
      <vt:lpstr>PREDICTIVE MODEL FOR METAL CONCENTRATION IN CONSUMER GOODS </vt:lpstr>
      <vt:lpstr>Introduction</vt:lpstr>
      <vt:lpstr>Data Cleaning &amp; Preparation</vt:lpstr>
      <vt:lpstr>Exploratory Data Analysis</vt:lpstr>
      <vt:lpstr>METAL CONCENTRATION</vt:lpstr>
      <vt:lpstr>NUMBER OF PRODUCTS BY TYPE</vt:lpstr>
      <vt:lpstr>Concentration by the top 10 countries</vt:lpstr>
      <vt:lpstr>Box plot shows concentration across the metals</vt:lpstr>
      <vt:lpstr>Conti…..</vt:lpstr>
      <vt:lpstr>Modeling approach</vt:lpstr>
      <vt:lpstr>Results</vt:lpstr>
      <vt:lpstr>Random forest </vt:lpstr>
      <vt:lpstr>Neural network</vt:lpstr>
      <vt:lpstr>Comparing models</vt:lpstr>
      <vt:lpstr>Conclusion</vt:lpstr>
      <vt:lpstr>Future Work</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subject/>
  <dc:creator>Administrator</dc:creator>
  <cp:keywords/>
  <dc:description>generated using python-pptx</dc:description>
  <cp:lastModifiedBy>Administrator</cp:lastModifiedBy>
  <cp:revision>38</cp:revision>
  <dcterms:created xsi:type="dcterms:W3CDTF">2013-01-27T09:14:16Z</dcterms:created>
  <dcterms:modified xsi:type="dcterms:W3CDTF">2026-04-30T13:32:17Z</dcterms:modified>
  <cp:category/>
</cp:coreProperties>
</file>